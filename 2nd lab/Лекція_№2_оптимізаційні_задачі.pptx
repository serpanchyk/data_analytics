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2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Прибуток, тис. $ / тиждень</c:v>
                </c:pt>
              </c:strCache>
            </c:strRef>
          </c:tx>
          <c:spPr>
            <a:ln w="38100" cap="flat">
              <a:solidFill>
                <a:srgbClr val="3E7CA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Sheet1!$A$2:$A$24</c:f>
              <c:strCache>
                <c:ptCount val="23"/>
                <c:pt idx="0">
                  <c:v>6,00</c:v>
                </c:pt>
                <c:pt idx="1">
                  <c:v>6,25</c:v>
                </c:pt>
                <c:pt idx="2">
                  <c:v>6,50</c:v>
                </c:pt>
                <c:pt idx="3">
                  <c:v>6,75</c:v>
                </c:pt>
                <c:pt idx="4">
                  <c:v>7,00</c:v>
                </c:pt>
                <c:pt idx="5">
                  <c:v>7,25</c:v>
                </c:pt>
                <c:pt idx="6">
                  <c:v>7,50</c:v>
                </c:pt>
                <c:pt idx="7">
                  <c:v>7,75</c:v>
                </c:pt>
                <c:pt idx="8">
                  <c:v>8,00</c:v>
                </c:pt>
                <c:pt idx="9">
                  <c:v>8,25</c:v>
                </c:pt>
                <c:pt idx="10">
                  <c:v>8,50</c:v>
                </c:pt>
                <c:pt idx="11">
                  <c:v>8,75</c:v>
                </c:pt>
                <c:pt idx="12">
                  <c:v>9,00</c:v>
                </c:pt>
                <c:pt idx="13">
                  <c:v>9,25</c:v>
                </c:pt>
                <c:pt idx="14">
                  <c:v>9,50</c:v>
                </c:pt>
                <c:pt idx="15">
                  <c:v>9,75</c:v>
                </c:pt>
                <c:pt idx="16">
                  <c:v>10,00</c:v>
                </c:pt>
                <c:pt idx="17">
                  <c:v>10,25</c:v>
                </c:pt>
                <c:pt idx="18">
                  <c:v>10,50</c:v>
                </c:pt>
                <c:pt idx="19">
                  <c:v>10,75</c:v>
                </c:pt>
                <c:pt idx="20">
                  <c:v>11,00</c:v>
                </c:pt>
                <c:pt idx="21">
                  <c:v>11,25</c:v>
                </c:pt>
                <c:pt idx="22">
                  <c:v>11,50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-7.92</c:v>
                </c:pt>
                <c:pt idx="1">
                  <c:v>-2.34</c:v>
                </c:pt>
                <c:pt idx="2">
                  <c:v>2.74</c:v>
                </c:pt>
                <c:pt idx="3">
                  <c:v>7.32</c:v>
                </c:pt>
                <c:pt idx="4">
                  <c:v>11.4</c:v>
                </c:pt>
                <c:pt idx="5">
                  <c:v>14.98</c:v>
                </c:pt>
                <c:pt idx="6">
                  <c:v>18.059999999999999</c:v>
                </c:pt>
                <c:pt idx="7">
                  <c:v>20.64</c:v>
                </c:pt>
                <c:pt idx="8">
                  <c:v>22.72</c:v>
                </c:pt>
                <c:pt idx="9">
                  <c:v>24.3</c:v>
                </c:pt>
                <c:pt idx="10">
                  <c:v>25.38</c:v>
                </c:pt>
                <c:pt idx="11">
                  <c:v>25.96</c:v>
                </c:pt>
                <c:pt idx="12">
                  <c:v>26.04</c:v>
                </c:pt>
                <c:pt idx="13">
                  <c:v>25.62</c:v>
                </c:pt>
                <c:pt idx="14">
                  <c:v>24.7</c:v>
                </c:pt>
                <c:pt idx="15">
                  <c:v>23.28</c:v>
                </c:pt>
                <c:pt idx="16">
                  <c:v>21.36</c:v>
                </c:pt>
                <c:pt idx="17">
                  <c:v>18.940000000000001</c:v>
                </c:pt>
                <c:pt idx="18">
                  <c:v>16.02</c:v>
                </c:pt>
                <c:pt idx="19">
                  <c:v>12.6</c:v>
                </c:pt>
                <c:pt idx="20">
                  <c:v>8.68</c:v>
                </c:pt>
                <c:pt idx="21">
                  <c:v>4.26</c:v>
                </c:pt>
                <c:pt idx="22">
                  <c:v>-0.66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FF-864E-8B1A-D1DA6871CA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lang="ru-RU" sz="1200" b="0" i="0" u="none" strike="noStrike">
                    <a:solidFill>
                      <a:srgbClr val="5A6B7A"/>
                    </a:solidFill>
                    <a:latin typeface="Arial"/>
                  </a:rPr>
                  <a:t>Ціна пирога, $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4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B7A"/>
                    </a:solidFill>
                    <a:latin typeface="Arial"/>
                  </a:defRPr>
                </a:pPr>
                <a:r>
                  <a:rPr lang="ru-RU" sz="1200" b="0" i="0" u="none" strike="noStrike">
                    <a:solidFill>
                      <a:srgbClr val="5A6B7A"/>
                    </a:solidFill>
                    <a:latin typeface="Arial"/>
                  </a:rPr>
                  <a:t>Прибуток, тис. $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425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фактично перша лекція курсу. Перші 10 хвилин — карта курсу, далі дві дії: Simon Pie (що таке модель) і Oak Products (оптимізація).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Попросити студентів назвати ще дві задачі з їхнього досвіду. Мета — показати, що клас задач один.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Класична схема з книжки Мура й Уедерфорда. Головне: у реальному світі з ситуації в рішення можна пройти навпростець, інтуїцією. Модель — це довгий шлях в обхід, через світ символів, і сенс у ньому лише тоді, коли інтуїція не справляється або рішення треба обґрунтувати.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модель — це не таблиця з числами, а механізм, який реагує на зміну входу.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Ключовий слайд лекції. Наступний слайд дає практичний тест на приналежність до першої групи.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той тест, який студент має застосовувати щоразу. Далі показуємо, що буває, коли його не застосували.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наживо на аркушах «Модель1» і «Модель1М»: змінити B3 на 20 і подивитися на прибуток.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Межа застосовності: при ціні 12 попит стає нулем, вище — від’ємним. Рівняння попиту чинне лише в діапазоні, з якого його оцінили.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всі три аркуші поспіль. Наголос: інструмент змінюється, ідея одна.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Перехід. Далі — формалізація задачі лінійного програмування на спрощеній моделі з двома типами стільців.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Підкреслити: обмеження — це параметри, записані як нерівності. Права частина — запас на складі.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природний перехід до тіньових цін. Не давати відповідь одразу — хай спробують угадати.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тіньова ціна — це верхня межа розумної ціни закупівлі. Платити за спинку Mate більше 8,67 не має сенсу.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Числа реальні — з нашої моделі на два типи стільців. Тіньова ціна 4 чинна, доки штифтів не стане більше ніж 1320 або менше ніж 1100.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перші дві колонки описують поточний розв’язок, останні три — наскільки він стійкий.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Важлива відмінність між двома блоками звіту. У блоці «Змінні» всередині діапазону план у штуках не змінюється взагалі — змінюється лише прибуток. У блоці «Обмеження» кількості неминуче підлаштовуються, бо ресурсу стало більше, але структура плану та сама: ті самі вироби у випуску, ті самі ресурси в дефіциті, та сама тіньова ціна. Вихід за межу в обох випадках означає інший план і інший набір дефіцитних ресурсів.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найважливіший економічний висновок лекції: рішення визначається не маржею, а споживанням дефіцитного ресурсу.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Практичний висновок: якщо два співробітники отримали різні плани з однаковим прибутком — обидва мають рацію.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Демонстрація виродженості: поставте запас коротких штифтів рівно 1240 — стільки, скільки їх і витрачається. План і прибуток не зміняться, а тіньові ціни стрибнуть з 4,00 / 0 / 6,00 на 6,40 / 1,20 / 0. Тобто на питання «що докупити» звіт дасть протилежну відповідь.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Додати усно: у цілочисельній задачі тіньові ціни втрачають звичайний сенс, а час розв’язання зростає різко.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Показати, що зміна класу задачі — це зміна не математики, а лише набору обмежень.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лінійна й розв’язується миттєво навіть на тисячах маршрутів. Цілочисельність тут виходить сама собою — це властивість транспортної матриці.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Попри двійкові змінні задача розв’язується легко — структура обмежень така сама, як у транспортної.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Наголос: перехід від «легкої» задачі до «важкої» — це не інша математика, а поява обмежень, які не записуються компактно.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Місток до другої половини курсу: еволюційні та ройові алгоритми.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Далі демонстрація ноутбука: та сама задача в PuLP і крива прибутку від запасу спинок Mate, на якій видно тіньову ціну як нахил.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про звіт про стійкість зі Solver — саме він буде основою лабораторної.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Перші два джерела покривають усе, що є в лекції, і обидва вільні. Книжка Мура — комерційна, тож на неї лише посилаємось.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Лекція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Оптимізаційні задачі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аналіз чутливості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BD0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«що якщо»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315968"/>
            <a:ext cx="1280160" cy="32004"/>
          </a:xfrm>
          <a:prstGeom prst="rect">
            <a:avLst/>
          </a:prstGeom>
          <a:solidFill>
            <a:srgbClr val="E28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572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Інтелектуальний аналіз та візуалізація даних  ·  СК26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B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Ярослав Виклюк  ·  Кафедра систем штучного інтелекту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Задачі, які виглядають по-різному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розв’язуються однаково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EEF2F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9384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1965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чого виробляти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14884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обмежені матеріали, різна прибутковість продуктів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52344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EEF2F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990088"/>
            <a:ext cx="420624" cy="420624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90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Яку ціну поставити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209544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вища ціна — більший прибуток з одиниці, але менший попит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13048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EEF2F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050792"/>
            <a:ext cx="420624" cy="420624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9410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розподілити бюджет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70248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на кількох каналах з різною віддачею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873752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EEF2F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5111496"/>
            <a:ext cx="420624" cy="420624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012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0017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і де закупити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330952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постачальників, обмеження на обсяг і термін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Спільне: є те, чим ви керуєте, є те, що вам дано, і є результат, який треба зробити найкращим.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світи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живе не там, де живе задача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3630168"/>
            <a:ext cx="10789920" cy="0"/>
          </a:xfrm>
          <a:prstGeom prst="line">
            <a:avLst/>
          </a:prstGeom>
          <a:noFill/>
          <a:ln w="19050">
            <a:solidFill>
              <a:srgbClr val="C3D0DA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858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РЕАЛЬНИЙ СВІТ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СВІТ МОДЕЛІ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50876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Управлінська ситуація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587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чого виробляти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цього тижня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205740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1812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5877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план, який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піде в цех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0" y="416052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508760" y="4325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690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9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рішення,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9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параметри, обмеження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80960" y="416052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18120" y="43251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моделі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4690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9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числа: 130, 60,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9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 9 680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2587752"/>
            <a:ext cx="3200400" cy="0"/>
          </a:xfrm>
          <a:prstGeom prst="line">
            <a:avLst/>
          </a:prstGeom>
          <a:noFill/>
          <a:ln w="25400">
            <a:solidFill>
              <a:srgbClr val="A9B8C4"/>
            </a:solidFill>
            <a:prstDash val="dash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480560" y="2139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інтуїція, досвід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швидко, але не перевіряється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26080" y="3108960"/>
            <a:ext cx="0" cy="1051560"/>
          </a:xfrm>
          <a:prstGeom prst="line">
            <a:avLst/>
          </a:prstGeom>
          <a:noFill/>
          <a:ln w="31750">
            <a:solidFill>
              <a:srgbClr val="E2894A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0632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формалізація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4690872"/>
            <a:ext cx="3200400" cy="0"/>
          </a:xfrm>
          <a:prstGeom prst="line">
            <a:avLst/>
          </a:prstGeom>
          <a:noFill/>
          <a:ln w="31750">
            <a:solidFill>
              <a:srgbClr val="E2894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48056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і «що якщо»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3108960"/>
            <a:ext cx="0" cy="1051560"/>
          </a:xfrm>
          <a:prstGeom prst="line">
            <a:avLst/>
          </a:prstGeom>
          <a:noFill/>
          <a:ln w="31750">
            <a:solidFill>
              <a:srgbClr val="E2894A"/>
            </a:solidFill>
            <a:prstDash val="solid"/>
            <a:headEnd type="triangle"/>
          </a:ln>
        </p:spPr>
      </p:sp>
      <p:sp>
        <p:nvSpPr>
          <p:cNvPr id="27" name="Text 25"/>
          <p:cNvSpPr txBox="1"/>
          <p:nvPr/>
        </p:nvSpPr>
        <p:spPr>
          <a:xfrm>
            <a:off x="93726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інтерпретація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приймає рішень. Вона лише дає числа — рішення все одно приймає людина, і саме на кроці інтерпретації робиться більшість помилок.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модель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спрощений опис, який відповідає на питання «а що, якщо…»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3E7CA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61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ви задаєте: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ваші рішення та відомі величини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822192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709160" y="219456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9160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761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одне пов’язане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іншим — формули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891272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778240" y="219456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E2894A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778240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76148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вас цікавить: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8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прибуток, витрати, час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51560" y="4315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корисна не тоді, коли вона правильна, а тоді, коли її можна покрутити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736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Цінність не в одному числі на виході, а в тому, що ви можете змінити вхід і подивитися, як зміниться вихід. Саме це називають аналізом «що якщо».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типи величин у будь-якій моделі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усе, що є в таблиці, належить до одного з трьох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E28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0604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чим ви керуєте.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Їх ви обираєте самі.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7947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69080"/>
            <a:ext cx="2916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пирога,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стільців кожного типу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73736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3E7C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43400" y="1737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60604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вам дано.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Змінити не можна, можна лише врахувати.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7947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069080"/>
            <a:ext cx="2916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начинки,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 деталей на складі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290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737360"/>
            <a:ext cx="3429000" cy="658368"/>
          </a:xfrm>
          <a:prstGeom prst="roundRect">
            <a:avLst>
              <a:gd name="adj" fmla="val 8333"/>
            </a:avLst>
          </a:prstGeom>
          <a:solidFill>
            <a:srgbClr val="12395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17373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Наслідки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2606040"/>
            <a:ext cx="29169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що обчислюється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перших двох.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3794760"/>
            <a:ext cx="2916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НАПРИКЛАД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4069080"/>
            <a:ext cx="29169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попит, дохід,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витрати, прибуток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Формалізувати модель — це насамперед правильно рознести величини по цих трьох групах.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на змінну рішення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289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60020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A1F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«Чи можу я змінити це значення власним наказом — не питаючи ринок, погоду й конкурентів?»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ТАК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змінна рішення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6732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Ціну пирога встановлює директор. Кількість стільців визначає план виробництва.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971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3200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НІ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параметр або наслідок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67328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Попит не встановлюється наказом. Він відгукується на ціну — отже, обчислюється, а не задається.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Модель, яка радить нісенітницю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Pie Co. — той самий прибуток, дві різні моделі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677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і попит — обидва «змінні рішення»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Ціна    = 8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Попит   = 16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Прибуток = 22,72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03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тепер поставимо ціну 20, попит лишимо 16: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Прибуток = 214,72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радить піднімати ціну до нескінченності.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C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Модель1М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2677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попит став наслідком ціни:  D = 48 − 4·P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7432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Ціна    = 8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Попит   = 48 − 4·8 = 16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Прибуток = 22,72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7033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 ціна 20 дає попит −32, а ціна 9: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Прибуток = 26,04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З’явився оптимум. Модель почала радити.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була не в арифметиці, а в тому, що назвали змінною рішення.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Оптимум є лише там, де є зворотний зв’язок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 як функція ціни, Simon Pie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00200"/>
          <a:ext cx="74980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37360"/>
            <a:ext cx="3108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1248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8,92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оптимальна ціна, $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 26,07 тис. $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703320"/>
            <a:ext cx="31089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показує крива
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Дешево — продажів багато, але кожен пиріг ледь окупається.
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 — маржа велика, але купувати нікому.
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Оптимум завжди між. Знайти його можна лише тоді, коли попит у моделі залежить від ціни.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покоління аналізу «що якщо»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зміст, різна ціна ручної праці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420624" cy="420624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Копії поруч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8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аркуш «Альтернативи»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Сім копій моделі, у кожної своя ціна. Працює, але при зміні формули правити треба всі сім.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87368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4290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2011680"/>
            <a:ext cx="420624" cy="420624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Нормований аналіз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8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аркуш «Аналіз»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саме, але у відсотках від базової точки: на скільки відсотків зміниться прибуток, якщо ціна зміниться на 5 %.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90688" y="3017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42900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2011680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Таблиця даних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971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8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аркуш «Графік_таблиці»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3375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Вбудований інструмент Excel робить перебір сам. Модель одна, змінюється лише вхід.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EEF2F6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05840" y="52578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Третій спосіб — не новий фокус, а автоматизація першого. Розуміти треба перший, користуватися третім.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20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друга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 перебирати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вже неможливо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змінна рішення — сім варіантів можна перебрати руками.</a:t>
            </a:r>
            <a:endParaRPr lang="en-US" sz="16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змінних і одинадцять обмежень — уже ні.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38160" y="205740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38160" y="2240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Oak Products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2587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меблева фабрика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30632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436608" y="30632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типів стільців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3666744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436608" y="366674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видів деталей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458200" y="4270248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9436608" y="42702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тиждень на план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сама трійка мовою математики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спрощена модель — два типи стільців, Captain і Mate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12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— скільки виготовити Captain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— скільки виготовити Mate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робимо найбільшим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прибуток  =  56·C  +  40·M   →   max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це саме лінійна задача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224528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стілець дає однаковий прибуток незалежно від того, скільки їх уже зроблено, і з’їдає однакову кількість деталей. Немає ні знижок за обсяг, ні втоми верстата.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1691640"/>
            <a:ext cx="50749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66560" y="1874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286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8·C  +  4·M   ≤  1280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2313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довгі штифти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788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4·C  + 12·M   ≤  1600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46404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короткі штифти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4·C  +  4·M   ≤   760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3319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ніжки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1·C           ≤   140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464040" y="3822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міцні сидіння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1·M   ≤   120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4325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полегшені сидіння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 +    M   ≥   100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464040" y="4828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мінімальний план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5303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 ,     M   ≥     0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464040" y="5330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від’ємних стільців не буває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відповідає Solver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що в цій відповіді найцікавіше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17920" y="18288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9 680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D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прибуток, $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06840" y="18288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з 6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обмежень дійсно тиснуть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29000"/>
          <a:ext cx="10881360" cy="208483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Ресурс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Використано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Залишок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Довгі штифти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6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вичерпано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Ніжки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6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вичерпано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Короткі штифти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надлишку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Міцні сидіння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надлишку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Полегшені сидіння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 надлишку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до аудиторії: якщо докупити деталі, то які саме — і скільки за них не шкода заплатити?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Тіньова ціна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коштує одна додаткова одиниця дефіцитного ресурсу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Наскільки зросте прибуток, якщо запасу цього ресурсу стане на одиницю більше — за умови, що все інше лишиться як є.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 у надлишку має тіньову ціну нуль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3434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Докупити те, чого й так вистачає, — викинути гроші. Прибуток не зміниться ні на копійку.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17373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на шість типів стільців: за що варто платити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46520" y="22402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Спинки для Mate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829800" y="2340864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E28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29800" y="23408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$ 8,67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953512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295351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Спинки для Amer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829800" y="3054096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E28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29800" y="30540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$ 6,67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3666744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6520" y="36667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Довгі штифти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29800" y="3767328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3E7C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9800" y="3767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$ 3,19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4379976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46520" y="437997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Короткі штифти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829800" y="4480560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3E7CA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29800" y="448056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$ 2,61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72200" y="5093208"/>
            <a:ext cx="53492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46520" y="509320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Решта сім ресурсів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829800" y="5193792"/>
            <a:ext cx="1463040" cy="402336"/>
          </a:xfrm>
          <a:prstGeom prst="roundRect">
            <a:avLst>
              <a:gd name="adj" fmla="val 11364"/>
            </a:avLst>
          </a:prstGeom>
          <a:solidFill>
            <a:srgbClr val="B8C4C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29800" y="51937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Звіт про стійкість: блок «Обмеження»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→ Звіт про стійкість. Тут живуть тіньові ціни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1935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Ім’я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Кінцеве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Тіньова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Допустиме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збільшення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Допустиме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зменшення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Довгі штифти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2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Ніжки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2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Короткі штифти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1E+30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Міцні сидіння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1E+30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3968496"/>
            <a:ext cx="118872" cy="118872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32688" y="3858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Кінцеве значення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251960" y="38587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ресурсу справді витрачено в оптимальному плані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4517136"/>
            <a:ext cx="118872" cy="118872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32688" y="4407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Тіньова ціна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440740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скільки зросте прибуток від однієї додаткової одиниці ресурсу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5065776"/>
            <a:ext cx="118872" cy="118872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" y="4956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Права частина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251960" y="495604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запас, який ви записали в обмеження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" y="5614416"/>
            <a:ext cx="118872" cy="118872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4" name="Text 12"/>
          <p:cNvSpPr txBox="1"/>
          <p:nvPr/>
        </p:nvSpPr>
        <p:spPr>
          <a:xfrm>
            <a:off x="932688" y="5504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Допустиме збільшення та зменшення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251960" y="55046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цих межах тіньова ціна ще чинна — це і є діапазон стійкості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1E+30 означає «нескінченність»: ресурсу і так надлишок, докладати його можна без кінця — прибуток не зміниться.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Звіт про стійкість: блок «Змінні»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звіт, верхня таблиця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125577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Ім’я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Кінцеве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Зведена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вартість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Цільовий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коефіцієнт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Допустиме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збільшення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Допустиме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зменшення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200400"/>
            <a:ext cx="52578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6012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Зведена вартість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36850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(у деяких версіях «нормована» або «приведена»)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02336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Має сенс лише для змінних, які в оптимумі дорівнюють нулю: на скільки мусив би зрости прибуток за штуку, щоб цей виріб узагалі увійшов у план.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нашій моделі обидва типи виробляються, тому обидві зведені вартості нульові.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3200400"/>
            <a:ext cx="52578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58368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Діапазон цільового коефіцієнта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6850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доки прибуток за штуку не вийде за ці межі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069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Captain:  56 − 16 … 56 + 24   →   від 40 до 80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Mate:     40 − 12 … 40 + 16   →   від 28 до 56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8463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Усередині цих меж план виробництва не зміниться — зміниться лише прибуток. Вийти за межу означає, що Solver побудує інший план.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Навіщо потрібні ці межі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перелаштувати конвеєр коштує дорожче, ніж недоотримати прибуток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E28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1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Коливається прибуток за штуку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396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«Змінні» · план не змінюється взагалі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 за штуку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план, шт.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43484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 56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/ 60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3035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9 680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 70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/ 60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493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11 500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50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 44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950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/ 60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950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8 120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407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 85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4407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140 / 40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44074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13 500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9194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Доки прибуток за штуку тримається в межах 40…80, у цеху не змінюється нічого. Ви заробляєте більше або менше — але виробляєте те саме.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1691640"/>
            <a:ext cx="534924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1691640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3E7C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17373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Змінюється запас ресурсу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2139696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«Обмеження» · змінюються кількості, не структура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 ресурсу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458200" y="2743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план, шт.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прибуток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Ніжки 760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130 / 60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966960" y="30358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9 680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Ніжки 800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458200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7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/ 80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966960" y="3493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9 920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3950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Ніжки 860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458200" y="3950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/ 96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966960" y="3950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10 112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44805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Доки запас тримається в межах +72 / −40, виробляються ті самі два вироби, у дефіциті ті самі два ресурси, тіньова ціна лишається 6. Змінюються тільки числа плану.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56692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40080" y="56692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Перелаштувати конвеєр коштує дорого. Тому директорові часто важливіше знати, наскільки план стійкий, ніж яким саме є оптимум.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іспанські стільці не виробляємо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хоча кожен приносить прибуток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577840" cy="2807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стільця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Прибуток за штуку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Оптимальний план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$ 36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AmerHi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$ 45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AmerLo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$ 38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6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SpainQ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A6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37360"/>
            <a:ext cx="484632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99516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Прибутковість штуки нічого не вирішує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24688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Має значення не скільки стілець приносить, а скільки дефіцитного ресурсу він на це витрачає.
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SpainK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дає 35 доларів, але з’їдає 8 довгих штифтів — стільки ж, скільки AmerHi, який дає 45.
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виготовлений іспанський стілець забирає штифти в американського — і зменшує загальний прибуток.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29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Прибуток оптимального плану: $ 10 294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4406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Спроба «додати трохи іспанських, вони ж прибуткові» цей результат лише погіршить.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 оптимальний план не один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модель, підняли прибуток SpainK з 35 до 36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 100</a:t>
            </a:r>
            <a:endParaRPr lang="en-US" sz="20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SpainK 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план, який дає Solver за замовчуванням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$ 10 294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4340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 80</a:t>
            </a:r>
            <a:endParaRPr lang="en-US" sz="20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SpainK 20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змусити виробити 20 іспанських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246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$ 10 294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 15</a:t>
            </a:r>
            <a:endParaRPr lang="en-US" sz="20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23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SpainK 85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6974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 один цілком припустимий план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246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$ 10 294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39776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побачити у звіті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52628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дорівнює нулю, а її зведена вартість теж нуль. Або допустиме збільшення чи зменшення цільового коефіцієнта дорівнює нулю.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4160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 цим робити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526280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не помилка й не привід сперечатися з Solver. Прибуток однаковий, тож обирайте другим критерієм: простотою переналагодження, ризиком, рівномірністю завантаження цеху.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447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прибуток — три різні цехові плани.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Проста перевірка розв’язку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змінних працює — стільки й обмежень тисне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Кількість ненульових змінних рішення  =  кількість зв’язних обмежень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6974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типи стільців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6974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130, Mate 60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69748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змінні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2697480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69748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обмеження: довгі штифти, ніжки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8813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4290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Шість типів стільців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42900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Capt, Mate, AmerHi, AmerLo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42900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змінні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429000"/>
            <a:ext cx="274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42900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обмеження: два види штифтів і дві спинки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4315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Зв’язних більше, ніж ненульових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626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Виродженість: кілька обмежень перетинаються в одній точці.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389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ПРАКТИЦІ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37667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Грошей ви не втрачаєте — план оптимальний. Але звіт про стійкість читати не можна: Solver видає один із кількох можливих наборів тіньових цін, і рішення «що докупити» на його основі буде хибним.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4160520"/>
            <a:ext cx="52120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4315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Ненульових більше, ніж зв’язних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626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Розв’язок не у вершині: Solver зупинився, не дійшовши до оптимуму.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13892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ПРАКТИЦІ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37667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вже прямі втрати. Ви виробите щось на вигляд розумне, але заробите менше, ніж могли б на тих самих ресурсах. Модель треба перевірити й перезапустити.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400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Обидві розбіжності коштують грошей: перша — через хибне рішення про закупівлю, друга — просто недоотриманим прибутком.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Півтора стільця не буває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модель, запас ніжок 751, штифтів 1273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82296" cy="1207008"/>
          </a:xfrm>
          <a:prstGeom prst="roundRect">
            <a:avLst>
              <a:gd name="adj" fmla="val 33333"/>
            </a:avLst>
          </a:prstGeom>
          <a:solidFill>
            <a:srgbClr val="3E7C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Розв’язок без умови цілочисельності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304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красиво, але виготовити неможливо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73736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130,5    M = 57,25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778240" y="173736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3E7C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$ 9 598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3154680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154680"/>
            <a:ext cx="82296" cy="1207008"/>
          </a:xfrm>
          <a:prstGeom prst="roundRect">
            <a:avLst>
              <a:gd name="adj" fmla="val 33333"/>
            </a:avLst>
          </a:prstGeom>
          <a:solidFill>
            <a:srgbClr val="A63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3192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Округлення «як є»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7216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штифтів потрібно 1276, а є 1273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315468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131      M = 57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15468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A6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недопустимо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572000"/>
            <a:ext cx="82296" cy="1207008"/>
          </a:xfrm>
          <a:prstGeom prst="roundRect">
            <a:avLst>
              <a:gd name="adj" fmla="val 33333"/>
            </a:avLst>
          </a:prstGeom>
          <a:solidFill>
            <a:srgbClr val="2C7A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736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Правильний цілочисельний план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51389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знайдений з умовою «лише цілі»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572000"/>
            <a:ext cx="3291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131      M = 56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4572000"/>
            <a:ext cx="2377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2C7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$ 9 576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053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Округлити результат не можна: виходить або недопустимий план, або гірший за справжній оптимум. Умову цілочисельності ставлять у самому Solver.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мова — багато класів задач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вони записуються тією самою трійкою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0" cy="3931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3E7C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4436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везти з кожного складу до кожного магазину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ОБМЕЖЕННЯ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0740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мінімізувати вартість перевезення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57500" y="1737360"/>
            <a:ext cx="2011680" cy="3931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5750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3E7C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4894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призначення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4038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040380" y="294436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 з працівників яку роботу виконує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4038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ОБМЕЖЕННЯ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040380" y="440740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кожному одна робота, кожній роботі один виконавець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2011680" cy="3931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E289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6636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Комівояжера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94436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якому порядку об’їхати точки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ОБМЕЖЕННЯ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257800" y="440740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кожну точку відвідати рівно раз і повернутися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92340" y="1737360"/>
            <a:ext cx="2011680" cy="3931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9234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3E7CA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8378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Складання розкладу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7522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7475220" y="294436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яку пару поставити в яку аудиторію і час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7522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ОБМЕЖЕННЯ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7475220" y="440740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викладач і група не можуть бути у двох місцях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1737360"/>
            <a:ext cx="2011680" cy="3931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09760" y="173736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3E7CA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01200" y="17373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 рюкзак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2697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9692640" y="294436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взяти, а що лишити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926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ОБМЕЖЕННЯ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9692640" y="4407408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сумарна вага не більша за дозволену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Перші дві розв’язуються так само швидко, як задача про стільці. Три останні — цілочисельні, і саме тут починаються труднощі.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Транспортна задача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вартість перевезення однієї тонни, грн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669280" cy="17373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Рівне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Полтава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Херсон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Ужгород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Львів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2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Київ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2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Одеса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28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Потреба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749040"/>
            <a:ext cx="56692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39136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Оптимальний план перевезень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42976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Львів  →  Рівне 60,  Ужгород 60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Київ   →  Рівне 20,  Полтава 110,  Херсон 10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Одеса  →  Херсон 90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532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8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Сумарна вартість: 1 330 грн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766560" y="1691640"/>
            <a:ext cx="47548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086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 сама трійка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рішення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263347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x[i][j] — скільки тонн везти зі складу i до магазину j.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Тут 3 × 4 = 12 змінних.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робимо найменшим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39136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сумарна вартість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вартість[i][j] × x[i][j]  →  min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51937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 складу не вивезти більше, ніж там є;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магазину привезти не менше, ніж треба;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від’ємних перевезень не буває.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про призначення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годин витратить кожен працівник на кожну роботу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5669280" cy="2057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Верстка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Тестування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Аналітика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Звіт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9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Андрій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Богдан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3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Галина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8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Помаранчевим — оптимальне призначення. Сумарний час 13 годин.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891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Найшвидший працівник не завжди отримує роботу, яку виконує найкраще: Андрій швидший за всіх на тестуванні, і саме тому Богдан іде на верстку, хоч і не найкращий там.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766560" y="1783080"/>
            <a:ext cx="475488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08660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змінилося проти транспортної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2423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стали двійковими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72491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y[i][j] = 1, якщо працівник i виконує роботу j, і 0 інакше. Половини роботи не буває.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 — рівності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391363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кожному працівникові рівно одна робота;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кожній роботі рівно один виконавець.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086600" y="5102352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час[i][j] × y[i][j]  →  min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Комівояжер і складання розкладу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 самі двійкові змінні — але задачі стають важкими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E28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комівояжера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121408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x[i][j] = 1, якщо маршрут іде з точки i одразу в точку j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3383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віддаль[i][j] × x[i][j]  →  min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297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21408" y="4297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кожної точки рівно один виїзд;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кожну точку рівно один в’їзд;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не розпадається на окремі кільця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5212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болить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21408" y="5212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останнє обмеження. Записати «не розпадається» одним рядком не можна — таких умов експоненційно багато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2120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737360"/>
            <a:ext cx="5212080" cy="566928"/>
          </a:xfrm>
          <a:prstGeom prst="roundRect">
            <a:avLst>
              <a:gd name="adj" fmla="val 9677"/>
            </a:avLst>
          </a:prstGeom>
          <a:solidFill>
            <a:srgbClr val="3E7C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173736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Складання розкладу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468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468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y[група][аудиторія][час] = 1, якщо пара стоїть саме там і тоді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3383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790688" y="3383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мінімум вікон або максимум задоволених побажань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4297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42976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не може бути у двох місцях;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викладач не може бути у двох місцях;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аудиторії одна пара за раз;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місткість аудиторії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5212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A6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болить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5212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обмежень тисячі, а «м’які» побажання доводиться зважувати між собою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3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не можна просто перебрати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маршрутів у задачі комівояжера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міст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96596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770632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06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міст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7706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181 440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530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міст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357530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28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43 589 145 600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379976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E289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997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1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міст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437997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3A1F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60 822 550 204 416 000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63840" y="1965960"/>
            <a:ext cx="3657600" cy="3794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шляхи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6517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 методи
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гілок і меж, відсікання — дають гарантований оптимум, але лише на невеликих задачах
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28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Евристики
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генетичні та мурашині алгоритми — не гарантують оптимуму, зате працюють на тисячах точок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евристик повернемося на лекції 11 — і саме там задача комівояжера стане лабораторною роботою № 8.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Навіщо те саме ще й у Python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тому, що Excel поганий — тому, що в нього є стеля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3E7C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56032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 кожну формулу — модель можна показати керівникові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вбудований, нічого не треба ставити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Стеля: 200 змінних рішення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які кнопки натискали — результат не відтворити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Тисячу сценаріїв руками не прогнати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34924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737360"/>
            <a:ext cx="5349240" cy="640080"/>
          </a:xfrm>
          <a:prstGeom prst="roundRect">
            <a:avLst>
              <a:gd name="adj" fmla="val 8571"/>
            </a:avLst>
          </a:prstGeom>
          <a:solidFill>
            <a:srgbClr val="E28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72200" y="173736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56032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десять рядків коду, які можна прочитати й перевірити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Тисячі змінних без напруги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Уся послідовність дій зафіксована у файлі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 запасу ресурсу — і крива чутливості будується сама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Ціна: формул не видно, поки не запустиш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2395B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54406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щоб зрозуміти й показати. Python — щоб масштабувати й повторити.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9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забрати з лекції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00784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— це поділ величин на змінні рішення, параметри та наслідки. Помилка в цьому поділі не виправляється жодною формулою.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9572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рішення — те, що ви змінюєте наказом. Попит наказом не змінюється.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383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236976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Оптимум існує лише там, де є зворотний зв’язок: вигода в одному напрямку компенсується втратою в іншому.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224528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078224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Тіньова ціна показує, за що варто доплатити. Ресурс у надлишку коштує нуль.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065776"/>
            <a:ext cx="420624" cy="420624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19472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визначає не прибутковість штуки, а споживання дефіцитного ресурсу.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E289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5806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A1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 робота № 2: оптимізаційна задача та аналіз чутливості — в Excel і в Python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9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Джерела, які можна відкрити просто зараз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посилання перевірені — доступ вільний, якщо не зазначено інакше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11096"/>
            <a:ext cx="137160" cy="137160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70078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Bradley, Hax, Magnanti. Applied Mathematical Programming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84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Класика. Розділ 8 — мережеві та транспортні задачі, розділ 9 — цілочисельне програмування.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69164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web.mit.edu/15.053/www/AMP.htm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9933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повний текст безкоштовно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670048"/>
            <a:ext cx="137160" cy="137160"/>
          </a:xfrm>
          <a:prstGeom prst="ellipse">
            <a:avLst/>
          </a:prstGeom>
          <a:solidFill>
            <a:srgbClr val="E28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07008" y="245973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Chinneck J. W. Practical Optimization: A Gentle Introduction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Найм’якший вступ. Розділ 6 — аналіз чутливості, розділи 12–13 — цілочисельні задачі.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450592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optimization101.org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75234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20 розділів у вільному доступі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163824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3429000"/>
            <a:ext cx="137160" cy="137160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07008" y="321868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— практичні посібники з кодом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502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Окремі сторінки: /assignment, /routing/tsp, /pack/knapsack, /scheduling.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209544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developers.google.com/optimization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351129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документація з готовими прикладами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922776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4187952"/>
            <a:ext cx="137160" cy="137160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07008" y="39776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— бібліотека, якою ми користувалися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42611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Приклади моделей і опис усіх можливостей.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968496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coin-or.github.io/pulp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2702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офіційна документація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81728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6112" y="4946904"/>
            <a:ext cx="137160" cy="137160"/>
          </a:xfrm>
          <a:prstGeom prst="ellipse">
            <a:avLst/>
          </a:prstGeom>
          <a:solidFill>
            <a:srgbClr val="3E7CA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07008" y="473659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Excel: Визначення та розв’язання задачі за допомогою Solver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50200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увімкнути надбудову та замовити звіти.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903720" y="4727448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E7C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support.microsoft.com/uk-ua/excel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50292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довідка Microsoft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544068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6112" y="5705856"/>
            <a:ext cx="137160" cy="137160"/>
          </a:xfrm>
          <a:prstGeom prst="ellipse">
            <a:avLst/>
          </a:prstGeom>
          <a:solidFill>
            <a:srgbClr val="5A6B7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207008" y="549554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Moore J., Weatherford L. Decision Modeling with Microsoft Excel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57790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Комерційний підручник. Simon Pie та Oak Products узяті звідси; доступ у каталозі обмежений.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5486400"/>
            <a:ext cx="4343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archive.org/details/decisionmodeling0000moor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903720" y="578815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першоджерело прикладів цієї лекції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23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читати щось одне — беріть Chinneck. Якщо потрібен саме приклад коду під конкретний клас задач — OR-Tools.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3903</Words>
  <Application>Microsoft Macintosh PowerPoint</Application>
  <PresentationFormat>Widescreen</PresentationFormat>
  <Paragraphs>685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Yaroslav Vyklyuk</cp:lastModifiedBy>
  <cp:revision>1</cp:revision>
  <dcterms:created xsi:type="dcterms:W3CDTF">2026-09-07T07:29:15Z</dcterms:created>
  <dcterms:modified xsi:type="dcterms:W3CDTF">2026-09-07T07:33:43Z</dcterms:modified>
</cp:coreProperties>
</file>